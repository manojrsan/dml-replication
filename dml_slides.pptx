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2304973-3290-4B56-9957-5FE026BE493E}">
  <a:tblStyle styleId="{22304973-3290-4B56-9957-5FE026BE493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e7230e4ec1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g3e7230e4ec1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g3e7230e4ec1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ecb685ae84_0_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g3ecb685ae84_0_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g3ecb685ae84_0_7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e7230e4ec1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g3e7230e4ec1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g3e7230e4ec1_0_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e7230e4ec1_0_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3e7230e4ec1_0_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3e7230e4ec1_0_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ecb685ae84_0_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g3ecb685ae84_0_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3ecb685ae84_0_8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cb685ae84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g3ecb685ae84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ecb685ae84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ecb685ae84_0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g3ecb685ae84_0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ecb685ae84_0_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ecb685ae84_0_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g3ecb685ae84_0_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ecb685ae84_0_4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ecb685ae84_0_1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g3ecb685ae84_0_10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ecb685ae84_0_10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640080" y="942665"/>
            <a:ext cx="78639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1" lang="en-US" sz="3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Double/Debiased Machine Learning for </a:t>
            </a:r>
            <a:endParaRPr b="1" i="1" sz="3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1" lang="en-US" sz="3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Treatment and Structural Parameters</a:t>
            </a:r>
            <a:endParaRPr b="1" i="1" sz="3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640080" y="1874530"/>
            <a:ext cx="7863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from Chernozhukov et al. (2018)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3474720" y="2377440"/>
            <a:ext cx="2194500" cy="36600"/>
          </a:xfrm>
          <a:prstGeom prst="rect">
            <a:avLst/>
          </a:prstGeom>
          <a:solidFill>
            <a:srgbClr val="3A86FF"/>
          </a:solidFill>
          <a:ln cap="flat" cmpd="sng" w="12700">
            <a:solidFill>
              <a:srgbClr val="3A8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640080" y="2514600"/>
            <a:ext cx="7863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Seth Abramowitz and </a:t>
            </a:r>
            <a:r>
              <a:rPr b="0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Mariano Sanchez Delgado  |  GSE 552  |  June 2026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640080" y="2834640"/>
            <a:ext cx="786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9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A9F"/>
                </a:solidFill>
                <a:latin typeface="Calibri"/>
                <a:ea typeface="Calibri"/>
                <a:cs typeface="Calibri"/>
                <a:sym typeface="Calibri"/>
              </a:rPr>
              <a:t>The Econometrics Journal, 21(1), C1–C68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411480" y="164592"/>
            <a:ext cx="1554480" cy="292608"/>
          </a:xfrm>
          <a:prstGeom prst="rect">
            <a:avLst/>
          </a:prstGeom>
          <a:solidFill>
            <a:srgbClr val="3A86FF"/>
          </a:solidFill>
          <a:ln cap="flat" cmpd="sng" w="12700">
            <a:solidFill>
              <a:srgbClr val="3A8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411480" y="164592"/>
            <a:ext cx="1554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RESEARCH QUESTION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411480" y="530352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How Do We Estimate Causal Parameters When Controls Are High-Dimensional?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411480" y="1261872"/>
            <a:ext cx="4023360" cy="23317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594360" y="1353312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86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A86FF"/>
                </a:solidFill>
                <a:latin typeface="Calibri"/>
                <a:ea typeface="Calibri"/>
                <a:cs typeface="Calibri"/>
                <a:sym typeface="Calibri"/>
              </a:rPr>
              <a:t>The Core Problem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594360" y="1719072"/>
            <a:ext cx="36576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We want to estimate a low-dimensional causal parameter θ₀ (e.g., a treatment effect) in the presence of a high-dimensional nuisance parameter η₀ = (m₀, g₀).</a:t>
            </a:r>
            <a:br>
              <a:rPr b="0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Standard ML methods</a:t>
            </a:r>
            <a:r>
              <a:rPr b="0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reduce variance via regularization, but this regularization bias </a:t>
            </a: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contaminates θ₀</a:t>
            </a:r>
            <a:r>
              <a:rPr b="0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when ML estimates are plugged in naively — the estimator fails to be √N-consistent.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4663440" y="1261872"/>
            <a:ext cx="4023300" cy="233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4846320" y="1353312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86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A86FF"/>
                </a:solidFill>
                <a:latin typeface="Calibri"/>
                <a:ea typeface="Calibri"/>
                <a:cs typeface="Calibri"/>
                <a:sym typeface="Calibri"/>
              </a:rPr>
              <a:t>The Partially Linear Model (PLR)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11480" y="3749040"/>
            <a:ext cx="8321040" cy="438912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502920" y="3749040"/>
            <a:ext cx="81381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θ₀ is the low-dimensional parameter of interest — estimated after flexibly partialling out the high-dimensional 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{&quot;mathml&quot;:&quot;&lt;math style=\&quot;font-family:stix;font-size:16px;\&quot; xmlns=\&quot;http://www.w3.org/1998/Math/MathML\&quot;&gt;&lt;mstyle mathsize=\&quot;16px\&quot;&gt;&lt;mi&gt;Y&lt;/mi&gt;&lt;mo&gt;=&lt;/mo&gt;&lt;mi&gt;D&lt;/mi&gt;&lt;msub&gt;&lt;mi&gt;&amp;#x3B8;&lt;/mi&gt;&lt;mn&gt;0&lt;/mn&gt;&lt;/msub&gt;&lt;mo&gt;+&lt;/mo&gt;&lt;msub&gt;&lt;mi&gt;g&lt;/mi&gt;&lt;mn&gt;0&lt;/mn&gt;&lt;/msub&gt;&lt;mfenced&gt;&lt;mi&gt;X&lt;/mi&gt;&lt;/mfenced&gt;&lt;mo&gt;+&lt;/mo&gt;&lt;mi&gt;U&lt;/mi&gt;&lt;mo&gt;,&lt;/mo&gt;&lt;mo&gt;&amp;#xA0;&lt;/mo&gt;&lt;mo&gt;&amp;#xA0;&lt;/mo&gt;&lt;mo&gt;&amp;#xA0;&lt;/mo&gt;&lt;mo&gt;&amp;#xA0;&lt;/mo&gt;&lt;mi&gt;E&lt;/mi&gt;&lt;mfenced open=\&quot;[\&quot; close=\&quot;]\&quot;&gt;&lt;mrow&gt;&lt;mi&gt;U&lt;/mi&gt;&lt;mo&gt;&amp;#xA0;&lt;/mo&gt;&lt;menclose notation=\&quot;left\&quot;&gt;&lt;mo&gt;&amp;#xA0;&lt;/mo&gt;&lt;mi&gt;X&lt;/mi&gt;&lt;mo&gt;,&lt;/mo&gt;&lt;mi&gt;D&lt;/mi&gt;&lt;/menclose&gt;&lt;/mrow&gt;&lt;/mfenced&gt;&lt;mo&gt;=&lt;/mo&gt;&lt;mn&gt;0&lt;/mn&gt;&lt;mspace linebreak=\&quot;newline\&quot;/&gt;&lt;mi&gt;D&lt;/mi&gt;&lt;mo&gt;=&lt;/mo&gt;&lt;msub&gt;&lt;mi&gt;m&lt;/mi&gt;&lt;mn&gt;0&lt;/mn&gt;&lt;/msub&gt;&lt;mfenced&gt;&lt;mi&gt;X&lt;/mi&gt;&lt;/mfenced&gt;&lt;mo&gt;+&lt;/mo&gt;&lt;mi&gt;V&lt;/mi&gt;&lt;mo&gt;,&lt;/mo&gt;&lt;mo&gt;&amp;#xA0;&lt;/mo&gt;&lt;mo&gt;&amp;#xA0;&lt;/mo&gt;&lt;mo&gt;&amp;#xA0;&lt;/mo&gt;&lt;mo&gt;&amp;#xA0;&lt;/mo&gt;&lt;mi&gt;E&lt;/mi&gt;&lt;mfenced open=\&quot;[\&quot; close=\&quot;]\&quot;&gt;&lt;mrow&gt;&lt;mi&gt;V&lt;/mi&gt;&lt;mo&gt;&amp;#xA0;&lt;/mo&gt;&lt;menclose notation=\&quot;left\&quot;&gt;&lt;mo&gt;&amp;#xA0;&lt;/mo&gt;&lt;mi&gt;X&lt;/mi&gt;&lt;/menclose&gt;&lt;/mrow&gt;&lt;/mfenced&gt;&lt;mo&gt;=&lt;/mo&gt;&lt;mn&gt;0&lt;/mn&gt;&lt;/mstyle&gt;&lt;/math&gt;&quot;,&quot;truncated&quot;:false}" id="36" name="Google Shape;36;p4" title="Y equals D theta subscript 0 plus g subscript 0 open parentheses X close parentheses plus U comma space space space space E open square brackets U space left enclose space X comma D end enclose close square brackets equals 0&#10;D equals m subscript 0 open parentheses X close parentheses plus V comma space space space space E open square brackets V space left enclose space X end enclose close square brackets equals 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7400" y="1719084"/>
            <a:ext cx="2395451" cy="504625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/>
          <p:nvPr/>
        </p:nvSpPr>
        <p:spPr>
          <a:xfrm>
            <a:off x="4846320" y="2200235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rgbClr val="3A86FF"/>
                </a:solidFill>
                <a:latin typeface="Calibri"/>
                <a:ea typeface="Calibri"/>
                <a:cs typeface="Calibri"/>
                <a:sym typeface="Calibri"/>
              </a:rPr>
              <a:t>Interactive Instrumental Variables Model (IIVM)</a:t>
            </a:r>
            <a:endParaRPr b="1" sz="1200">
              <a:solidFill>
                <a:srgbClr val="3A86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{&quot;mathml&quot;:&quot;&lt;math style=\&quot;font-family:stix;font-size:16px;\&quot; xmlns=\&quot;http://www.w3.org/1998/Math/MathML\&quot;&gt;&lt;mstyle mathsize=\&quot;16px\&quot;&gt;&lt;mi&gt;Y&lt;/mi&gt;&lt;mo&gt;=&lt;/mo&gt;&lt;msub&gt;&lt;mi&gt;&amp;#x3BC;&lt;/mi&gt;&lt;mn&gt;0&lt;/mn&gt;&lt;/msub&gt;&lt;mfenced&gt;&lt;mrow&gt;&lt;mi&gt;Z&lt;/mi&gt;&lt;mo&gt;,&lt;/mo&gt;&lt;mi&gt;X&lt;/mi&gt;&lt;/mrow&gt;&lt;/mfenced&gt;&lt;mo&gt;+&lt;/mo&gt;&lt;mi&gt;U&lt;/mi&gt;&lt;mo&gt;,&lt;/mo&gt;&lt;mo&gt;&amp;#xA0;&lt;/mo&gt;&lt;mo&gt;&amp;#xA0;&lt;/mo&gt;&lt;mo&gt;&amp;#xA0;&lt;/mo&gt;&lt;mo&gt;&amp;#xA0;&lt;/mo&gt;&lt;msub&gt;&lt;mi&gt;E&lt;/mi&gt;&lt;mi&gt;P&lt;/mi&gt;&lt;/msub&gt;&lt;mfenced open=\&quot;[\&quot; close=\&quot;]\&quot;&gt;&lt;mrow&gt;&lt;mi&gt;U&lt;/mi&gt;&lt;mo&gt;&amp;#xA0;&lt;/mo&gt;&lt;menclose notation=\&quot;left\&quot;&gt;&lt;mo&gt;&amp;#xA0;&lt;/mo&gt;&lt;mi&gt;Z&lt;/mi&gt;&lt;mo&gt;,&lt;/mo&gt;&lt;mi&gt;X&lt;/mi&gt;&lt;/menclose&gt;&lt;/mrow&gt;&lt;/mfenced&gt;&lt;mo&gt;=&lt;/mo&gt;&lt;mn&gt;0&lt;/mn&gt;&lt;mspace linebreak=\&quot;newline\&quot;/&gt;&lt;mi&gt;D&lt;/mi&gt;&lt;mo&gt;=&lt;/mo&gt;&lt;msub&gt;&lt;mi&gt;m&lt;/mi&gt;&lt;mn&gt;0&lt;/mn&gt;&lt;/msub&gt;&lt;mfenced&gt;&lt;mrow&gt;&lt;mi&gt;Z&lt;/mi&gt;&lt;mo&gt;,&lt;/mo&gt;&lt;mi&gt;X&lt;/mi&gt;&lt;/mrow&gt;&lt;/mfenced&gt;&lt;mo&gt;+&lt;/mo&gt;&lt;mi&gt;V&lt;/mi&gt;&lt;mo&gt;,&lt;/mo&gt;&lt;mo&gt;&amp;#xA0;&lt;/mo&gt;&lt;mo&gt;&amp;#xA0;&lt;/mo&gt;&lt;mo&gt;&amp;#xA0;&lt;/mo&gt;&lt;mo&gt;&amp;#xA0;&lt;/mo&gt;&lt;msub&gt;&lt;mi&gt;E&lt;/mi&gt;&lt;mi&gt;P&lt;/mi&gt;&lt;/msub&gt;&lt;mfenced open=\&quot;[\&quot; close=\&quot;]\&quot;&gt;&lt;mrow&gt;&lt;mi&gt;V&lt;/mi&gt;&lt;mo&gt;&amp;#xA0;&lt;/mo&gt;&lt;menclose notation=\&quot;left\&quot;&gt;&lt;mo&gt;&amp;#xA0;&lt;/mo&gt;&lt;mi&gt;Z&lt;/mi&gt;&lt;mo&gt;,&lt;/mo&gt;&lt;mi&gt;X&lt;/mi&gt;&lt;/menclose&gt;&lt;/mrow&gt;&lt;/mfenced&gt;&lt;mo&gt;=&lt;/mo&gt;&lt;mn&gt;0&lt;/mn&gt;&lt;mspace linebreak=\&quot;newline\&quot;/&gt;&lt;mi&gt;Z&lt;/mi&gt;&lt;mo&gt;=&lt;/mo&gt;&lt;msub&gt;&lt;mi&gt;p&lt;/mi&gt;&lt;mn&gt;0&lt;/mn&gt;&lt;/msub&gt;&lt;mfenced&gt;&lt;mi&gt;X&lt;/mi&gt;&lt;/mfenced&gt;&lt;mo&gt;+&lt;/mo&gt;&lt;mi&gt;&amp;#x3B6;&lt;/mi&gt;&lt;mo&gt;,&lt;/mo&gt;&lt;mo&gt;&amp;#xA0;&lt;/mo&gt;&lt;mo&gt;&amp;#xA0;&lt;/mo&gt;&lt;mo&gt;&amp;#xA0;&lt;/mo&gt;&lt;mo&gt;&amp;#xA0;&lt;/mo&gt;&lt;msub&gt;&lt;mi&gt;E&lt;/mi&gt;&lt;mi&gt;P&lt;/mi&gt;&lt;/msub&gt;&lt;mfenced open=\&quot;[\&quot; close=\&quot;]\&quot;&gt;&lt;mrow&gt;&lt;mi&gt;&amp;#x3B6;&lt;/mi&gt;&lt;mo&gt;&amp;#xA0;&lt;/mo&gt;&lt;menclose notation=\&quot;left\&quot;&gt;&lt;mo&gt;&amp;#xA0;&lt;/mo&gt;&lt;mi&gt;X&lt;/mi&gt;&lt;/menclose&gt;&lt;/mrow&gt;&lt;/mfenced&gt;&lt;mo&gt;=&lt;/mo&gt;&lt;mn&gt;0&lt;/mn&gt;&lt;/mstyle&gt;&lt;/math&gt;&quot;,&quot;truncated&quot;:false}" id="38" name="Google Shape;38;p4" title="Y equals mu subscript 0 open parentheses Z comma X close parentheses plus U comma space space space space E subscript P open square brackets U space left enclose space Z comma X end enclose close square brackets equals 0&#10;D equals m subscript 0 open parentheses Z comma X close parentheses plus V comma space space space space E subscript P open square brackets V space left enclose space Z comma X end enclose close square brackets equals 0&#10;Z equals p subscript 0 open parentheses X close parentheses plus zeta comma space space space space E subscript P open square brackets zeta space left enclose space X end enclose close square brackets equals 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24774" y="2557517"/>
            <a:ext cx="2395449" cy="8577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"/>
          <p:cNvSpPr/>
          <p:nvPr/>
        </p:nvSpPr>
        <p:spPr>
          <a:xfrm>
            <a:off x="411480" y="164592"/>
            <a:ext cx="1554480" cy="292608"/>
          </a:xfrm>
          <a:prstGeom prst="rect">
            <a:avLst/>
          </a:prstGeom>
          <a:solidFill>
            <a:srgbClr val="3A86FF"/>
          </a:solidFill>
          <a:ln cap="flat" cmpd="sng" w="12700">
            <a:solidFill>
              <a:srgbClr val="3A8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5"/>
          <p:cNvSpPr/>
          <p:nvPr/>
        </p:nvSpPr>
        <p:spPr>
          <a:xfrm>
            <a:off x="411480" y="164592"/>
            <a:ext cx="1554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METHOD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411480" y="530352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Double/Debiased Machine Learning — Why It’s Needed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411480" y="1261872"/>
            <a:ext cx="4023360" cy="137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5"/>
          <p:cNvSpPr/>
          <p:nvPr/>
        </p:nvSpPr>
        <p:spPr>
          <a:xfrm>
            <a:off x="548640" y="1371600"/>
            <a:ext cx="347472" cy="347472"/>
          </a:xfrm>
          <a:prstGeom prst="ellipse">
            <a:avLst/>
          </a:prstGeom>
          <a:solidFill>
            <a:srgbClr val="E74C3C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5"/>
          <p:cNvSpPr/>
          <p:nvPr/>
        </p:nvSpPr>
        <p:spPr>
          <a:xfrm>
            <a:off x="548640" y="137160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1005840" y="1389888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594360" y="1755648"/>
            <a:ext cx="3657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A9F"/>
                </a:solidFill>
                <a:latin typeface="Calibri"/>
                <a:ea typeface="Calibri"/>
                <a:cs typeface="Calibri"/>
                <a:sym typeface="Calibri"/>
              </a:rPr>
              <a:t>Standard ML methods are designed for prediction, not causal inference. Inserting ML predictions directly into a causal model introduces regularization bias and overfitting into the treatment-effect estimate.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411480" y="2770632"/>
            <a:ext cx="4023360" cy="137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548640" y="2880360"/>
            <a:ext cx="347472" cy="347472"/>
          </a:xfrm>
          <a:prstGeom prst="ellipse">
            <a:avLst/>
          </a:prstGeom>
          <a:solidFill>
            <a:srgbClr val="27AE60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5"/>
          <p:cNvSpPr/>
          <p:nvPr/>
        </p:nvSpPr>
        <p:spPr>
          <a:xfrm>
            <a:off x="548640" y="288036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1005840" y="2898648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The Fix: DML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594360" y="3264408"/>
            <a:ext cx="3657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A9F"/>
                </a:solidFill>
                <a:latin typeface="Calibri"/>
                <a:ea typeface="Calibri"/>
                <a:cs typeface="Calibri"/>
                <a:sym typeface="Calibri"/>
              </a:rPr>
              <a:t>Neyman-orthogonal moment conditions make θ₀ less sensitive to nuisance errors. Cross-fitting separates training data from estimation data, preventing overfitting from entering the final estimate.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4663440" y="1261872"/>
            <a:ext cx="4023360" cy="28803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4846320" y="1353312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86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A86FF"/>
                </a:solidFill>
                <a:latin typeface="Calibri"/>
                <a:ea typeface="Calibri"/>
                <a:cs typeface="Calibri"/>
                <a:sym typeface="Calibri"/>
              </a:rPr>
              <a:t>Why This Applies Here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4846320" y="1755648"/>
            <a:ext cx="370332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9 correlated controls — assuming g₀(X) is linear is a strong and likely wrong restriction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401(k) eligibility is not randomly assigned — D correlates with X through employer and worker selection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Naive ML on the outcome equation introduces regularization bias directly into θ₀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DML allows flexible ML for g₀ and m₀ while still obtaining valid inference for θ₀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 txBox="1"/>
          <p:nvPr/>
        </p:nvSpPr>
        <p:spPr>
          <a:xfrm>
            <a:off x="2080350" y="2279250"/>
            <a:ext cx="4983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Table 2 (Panel B) Replication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>
            <a:off x="411480" y="164592"/>
            <a:ext cx="1554480" cy="292608"/>
          </a:xfrm>
          <a:prstGeom prst="rect">
            <a:avLst/>
          </a:prstGeom>
          <a:solidFill>
            <a:srgbClr val="3A86FF"/>
          </a:solidFill>
          <a:ln cap="flat" cmpd="sng" w="12700">
            <a:solidFill>
              <a:srgbClr val="3A8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411480" y="164592"/>
            <a:ext cx="1554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411480" y="530352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1991 Survey of Income and Program Participation (SIPP)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7"/>
          <p:cNvSpPr/>
          <p:nvPr/>
        </p:nvSpPr>
        <p:spPr>
          <a:xfrm>
            <a:off x="411480" y="1261872"/>
            <a:ext cx="1920240" cy="10972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7"/>
          <p:cNvSpPr/>
          <p:nvPr/>
        </p:nvSpPr>
        <p:spPr>
          <a:xfrm>
            <a:off x="411480" y="1325880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86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3A86FF"/>
                </a:solidFill>
                <a:latin typeface="Calibri"/>
                <a:ea typeface="Calibri"/>
                <a:cs typeface="Calibri"/>
                <a:sym typeface="Calibri"/>
              </a:rPr>
              <a:t>9,915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7"/>
          <p:cNvSpPr/>
          <p:nvPr/>
        </p:nvSpPr>
        <p:spPr>
          <a:xfrm>
            <a:off x="411480" y="1874520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9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A9F"/>
                </a:solidFill>
                <a:latin typeface="Calibri"/>
                <a:ea typeface="Calibri"/>
                <a:cs typeface="Calibri"/>
                <a:sym typeface="Calibri"/>
              </a:rPr>
              <a:t>Observations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2560320" y="1261872"/>
            <a:ext cx="1920240" cy="10972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7"/>
          <p:cNvSpPr/>
          <p:nvPr/>
        </p:nvSpPr>
        <p:spPr>
          <a:xfrm>
            <a:off x="2560320" y="1325880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86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3A86FF"/>
                </a:solidFill>
                <a:latin typeface="Calibri"/>
                <a:ea typeface="Calibri"/>
                <a:cs typeface="Calibri"/>
                <a:sym typeface="Calibri"/>
              </a:rPr>
              <a:t>$18,052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7"/>
          <p:cNvSpPr/>
          <p:nvPr/>
        </p:nvSpPr>
        <p:spPr>
          <a:xfrm>
            <a:off x="2560320" y="1874520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9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A9F"/>
                </a:solidFill>
                <a:latin typeface="Calibri"/>
                <a:ea typeface="Calibri"/>
                <a:cs typeface="Calibri"/>
                <a:sym typeface="Calibri"/>
              </a:rPr>
              <a:t>Mean net_tfa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7"/>
          <p:cNvSpPr/>
          <p:nvPr/>
        </p:nvSpPr>
        <p:spPr>
          <a:xfrm>
            <a:off x="4709160" y="1261872"/>
            <a:ext cx="1920240" cy="10972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7"/>
          <p:cNvSpPr/>
          <p:nvPr/>
        </p:nvSpPr>
        <p:spPr>
          <a:xfrm>
            <a:off x="4709160" y="1325880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86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3A86FF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4709160" y="1874520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9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A9F"/>
                </a:solidFill>
                <a:latin typeface="Calibri"/>
                <a:ea typeface="Calibri"/>
                <a:cs typeface="Calibri"/>
                <a:sym typeface="Calibri"/>
              </a:rPr>
              <a:t>Covariates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7"/>
          <p:cNvSpPr/>
          <p:nvPr/>
        </p:nvSpPr>
        <p:spPr>
          <a:xfrm>
            <a:off x="6858000" y="1261872"/>
            <a:ext cx="1920240" cy="10972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7"/>
          <p:cNvSpPr/>
          <p:nvPr/>
        </p:nvSpPr>
        <p:spPr>
          <a:xfrm>
            <a:off x="6858000" y="1325880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86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3A86FF"/>
                </a:solidFill>
                <a:latin typeface="Calibri"/>
                <a:ea typeface="Calibri"/>
                <a:cs typeface="Calibri"/>
                <a:sym typeface="Calibri"/>
              </a:rPr>
              <a:t>40%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7"/>
          <p:cNvSpPr/>
          <p:nvPr/>
        </p:nvSpPr>
        <p:spPr>
          <a:xfrm>
            <a:off x="6858000" y="1874520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9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A9F"/>
                </a:solidFill>
                <a:latin typeface="Calibri"/>
                <a:ea typeface="Calibri"/>
                <a:cs typeface="Calibri"/>
                <a:sym typeface="Calibri"/>
              </a:rPr>
              <a:t>401(k) Eligible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6" name="Google Shape;86;p7"/>
          <p:cNvGraphicFramePr/>
          <p:nvPr/>
        </p:nvGraphicFramePr>
        <p:xfrm>
          <a:off x="411480" y="2514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{22304973-3290-4B56-9957-5FE026BE493E}</a:tableStyleId>
              </a:tblPr>
              <a:tblGrid>
                <a:gridCol w="2011675"/>
                <a:gridCol w="1828800"/>
                <a:gridCol w="4480550"/>
              </a:tblGrid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Variable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Role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61"/>
                          </a:solidFill>
                        </a:rPr>
                        <a:t>net_tfa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61"/>
                          </a:solidFill>
                        </a:rPr>
                        <a:t>Outcome (Y)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61"/>
                          </a:solidFill>
                        </a:rPr>
                        <a:t>Household net total financial assets (USD)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61"/>
                          </a:solidFill>
                        </a:rPr>
                        <a:t>e401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61"/>
                          </a:solidFill>
                        </a:rPr>
                        <a:t>Treatment (D)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61"/>
                          </a:solidFill>
                        </a:rPr>
                        <a:t>= 1 if employer offers a 401(k) plan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61"/>
                          </a:solidFill>
                        </a:rPr>
                        <a:t>age, inc, educ, fsize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61"/>
                          </a:solidFill>
                        </a:rPr>
                        <a:t>Controls (X)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61"/>
                          </a:solidFill>
                        </a:rPr>
                        <a:t>Continuous demographic and income variables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61"/>
                          </a:solidFill>
                        </a:rPr>
                        <a:t>marr, twoearn, db, pira, hown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61"/>
                          </a:solidFill>
                        </a:rPr>
                        <a:t>Controls (X)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61"/>
                          </a:solidFill>
                        </a:rPr>
                        <a:t>Binary household characteristics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8"/>
          <p:cNvSpPr/>
          <p:nvPr/>
        </p:nvSpPr>
        <p:spPr>
          <a:xfrm>
            <a:off x="411480" y="164592"/>
            <a:ext cx="1554600" cy="292500"/>
          </a:xfrm>
          <a:prstGeom prst="rect">
            <a:avLst/>
          </a:prstGeom>
          <a:solidFill>
            <a:srgbClr val="3A86FF"/>
          </a:solidFill>
          <a:ln cap="flat" cmpd="sng" w="12700">
            <a:solidFill>
              <a:srgbClr val="3A8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8"/>
          <p:cNvSpPr/>
          <p:nvPr/>
        </p:nvSpPr>
        <p:spPr>
          <a:xfrm>
            <a:off x="411480" y="164592"/>
            <a:ext cx="1554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8"/>
          <p:cNvSpPr/>
          <p:nvPr/>
        </p:nvSpPr>
        <p:spPr>
          <a:xfrm>
            <a:off x="411480" y="530352"/>
            <a:ext cx="83211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Replication Results — Table 2, Panel B (5-Fold)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5" name="Google Shape;95;p8"/>
          <p:cNvGraphicFramePr/>
          <p:nvPr/>
        </p:nvGraphicFramePr>
        <p:xfrm>
          <a:off x="411480" y="126187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{22304973-3290-4B56-9957-5FE026BE493E}</a:tableStyleId>
              </a:tblPr>
              <a:tblGrid>
                <a:gridCol w="1371600"/>
                <a:gridCol w="987550"/>
                <a:gridCol w="987550"/>
                <a:gridCol w="987550"/>
                <a:gridCol w="987550"/>
                <a:gridCol w="987550"/>
                <a:gridCol w="987550"/>
                <a:gridCol w="987550"/>
              </a:tblGrid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Lasso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Reg. Tree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Forest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Boosting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Neural Net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Ensemble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Best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E2761"/>
                          </a:solidFill>
                        </a:rPr>
                        <a:t>Paper ATE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61"/>
                          </a:solidFill>
                        </a:rPr>
                        <a:t>8187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61"/>
                          </a:solidFill>
                        </a:rPr>
                        <a:t>8871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61"/>
                          </a:solidFill>
                        </a:rPr>
                        <a:t>9247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61"/>
                          </a:solidFill>
                        </a:rPr>
                        <a:t>9110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61"/>
                          </a:solidFill>
                        </a:rPr>
                        <a:t>9038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61"/>
                          </a:solidFill>
                        </a:rPr>
                        <a:t>9166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61"/>
                          </a:solidFill>
                        </a:rPr>
                        <a:t>9215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8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E2761"/>
                          </a:solidFill>
                        </a:rPr>
                        <a:t>Replication ATE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61"/>
                          </a:solidFill>
                        </a:rPr>
                        <a:t>9676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61"/>
                          </a:solidFill>
                        </a:rPr>
                        <a:t>9026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61"/>
                          </a:solidFill>
                        </a:rPr>
                        <a:t>9269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61"/>
                          </a:solidFill>
                        </a:rPr>
                        <a:t>8983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61"/>
                          </a:solidFill>
                        </a:rPr>
                        <a:t>9213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61"/>
                          </a:solidFill>
                        </a:rPr>
                        <a:t>9338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61"/>
                          </a:solidFill>
                        </a:rPr>
                        <a:t>9667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96" name="Google Shape;96;p8"/>
          <p:cNvSpPr/>
          <p:nvPr/>
        </p:nvSpPr>
        <p:spPr>
          <a:xfrm>
            <a:off x="411480" y="2788920"/>
            <a:ext cx="2651700" cy="1691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8"/>
          <p:cNvSpPr/>
          <p:nvPr/>
        </p:nvSpPr>
        <p:spPr>
          <a:xfrm>
            <a:off x="411480" y="2788920"/>
            <a:ext cx="63900" cy="1691700"/>
          </a:xfrm>
          <a:prstGeom prst="rect">
            <a:avLst/>
          </a:prstGeom>
          <a:solidFill>
            <a:srgbClr val="3A86FF"/>
          </a:solidFill>
          <a:ln cap="flat" cmpd="sng" w="12700">
            <a:solidFill>
              <a:srgbClr val="3A8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8"/>
          <p:cNvSpPr/>
          <p:nvPr/>
        </p:nvSpPr>
        <p:spPr>
          <a:xfrm>
            <a:off x="566928" y="2880360"/>
            <a:ext cx="23775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~$9,000 Effect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8"/>
          <p:cNvSpPr/>
          <p:nvPr/>
        </p:nvSpPr>
        <p:spPr>
          <a:xfrm>
            <a:off x="566928" y="3246120"/>
            <a:ext cx="2377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A9F"/>
                </a:solidFill>
                <a:latin typeface="Calibri"/>
                <a:ea typeface="Calibri"/>
                <a:cs typeface="Calibri"/>
                <a:sym typeface="Calibri"/>
              </a:rPr>
              <a:t>Households eligible for a 401(k) hold roughly $9,000 more in net financial assets than comparable ineligible households. Given a sample mean of $18,052, this represents approximately a 50% increase in net wealth.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8"/>
          <p:cNvSpPr/>
          <p:nvPr/>
        </p:nvSpPr>
        <p:spPr>
          <a:xfrm>
            <a:off x="3246120" y="2788920"/>
            <a:ext cx="2651700" cy="1691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8"/>
          <p:cNvSpPr/>
          <p:nvPr/>
        </p:nvSpPr>
        <p:spPr>
          <a:xfrm>
            <a:off x="3246120" y="2788920"/>
            <a:ext cx="63900" cy="1691700"/>
          </a:xfrm>
          <a:prstGeom prst="rect">
            <a:avLst/>
          </a:prstGeom>
          <a:solidFill>
            <a:srgbClr val="3A86FF"/>
          </a:solidFill>
          <a:ln cap="flat" cmpd="sng" w="12700">
            <a:solidFill>
              <a:srgbClr val="3A8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8"/>
          <p:cNvSpPr/>
          <p:nvPr/>
        </p:nvSpPr>
        <p:spPr>
          <a:xfrm>
            <a:off x="3401568" y="2880360"/>
            <a:ext cx="23775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Economically Large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8"/>
          <p:cNvSpPr/>
          <p:nvPr/>
        </p:nvSpPr>
        <p:spPr>
          <a:xfrm>
            <a:off x="3401568" y="3246120"/>
            <a:ext cx="2377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A9F"/>
                </a:solidFill>
                <a:latin typeface="Calibri"/>
                <a:ea typeface="Calibri"/>
                <a:cs typeface="Calibri"/>
                <a:sym typeface="Calibri"/>
              </a:rPr>
              <a:t>A $9,000 savings effect is substantial in policy terms. It suggests that access to tax-advantaged retirement accounts meaningfully shifts household wealth accumulation, not just portfolio reallocation.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8"/>
          <p:cNvSpPr/>
          <p:nvPr/>
        </p:nvSpPr>
        <p:spPr>
          <a:xfrm>
            <a:off x="6080760" y="2788920"/>
            <a:ext cx="2651700" cy="1691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8"/>
          <p:cNvSpPr/>
          <p:nvPr/>
        </p:nvSpPr>
        <p:spPr>
          <a:xfrm>
            <a:off x="6080760" y="2788920"/>
            <a:ext cx="63900" cy="1691700"/>
          </a:xfrm>
          <a:prstGeom prst="rect">
            <a:avLst/>
          </a:prstGeom>
          <a:solidFill>
            <a:srgbClr val="3A86FF"/>
          </a:solidFill>
          <a:ln cap="flat" cmpd="sng" w="12700">
            <a:solidFill>
              <a:srgbClr val="3A8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8"/>
          <p:cNvSpPr/>
          <p:nvPr/>
        </p:nvSpPr>
        <p:spPr>
          <a:xfrm>
            <a:off x="6236208" y="2880360"/>
            <a:ext cx="23775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Robust Across Methods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8"/>
          <p:cNvSpPr/>
          <p:nvPr/>
        </p:nvSpPr>
        <p:spPr>
          <a:xfrm>
            <a:off x="6236208" y="3246120"/>
            <a:ext cx="2377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A9F"/>
                </a:solidFill>
                <a:latin typeface="Calibri"/>
                <a:ea typeface="Calibri"/>
                <a:cs typeface="Calibri"/>
                <a:sym typeface="Calibri"/>
              </a:rPr>
              <a:t>The ATE ranges from $8,983 to $9,676 across 6 very different learners. This stability means the economic conclusion does not depend on which ML method is used to control for covariates.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9"/>
          <p:cNvSpPr/>
          <p:nvPr/>
        </p:nvSpPr>
        <p:spPr>
          <a:xfrm>
            <a:off x="411480" y="164592"/>
            <a:ext cx="1554600" cy="292500"/>
          </a:xfrm>
          <a:prstGeom prst="rect">
            <a:avLst/>
          </a:prstGeom>
          <a:solidFill>
            <a:srgbClr val="3A86FF"/>
          </a:solidFill>
          <a:ln cap="flat" cmpd="sng" w="12700">
            <a:solidFill>
              <a:srgbClr val="3A8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9"/>
          <p:cNvSpPr/>
          <p:nvPr/>
        </p:nvSpPr>
        <p:spPr>
          <a:xfrm>
            <a:off x="411480" y="164592"/>
            <a:ext cx="1554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I LEARNED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9"/>
          <p:cNvSpPr/>
          <p:nvPr/>
        </p:nvSpPr>
        <p:spPr>
          <a:xfrm>
            <a:off x="411480" y="530352"/>
            <a:ext cx="83211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What I Learned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9"/>
          <p:cNvSpPr/>
          <p:nvPr/>
        </p:nvSpPr>
        <p:spPr>
          <a:xfrm>
            <a:off x="411480" y="1261872"/>
            <a:ext cx="2651700" cy="2926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9"/>
          <p:cNvSpPr/>
          <p:nvPr/>
        </p:nvSpPr>
        <p:spPr>
          <a:xfrm>
            <a:off x="411480" y="1261872"/>
            <a:ext cx="2651700" cy="3657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9"/>
          <p:cNvSpPr/>
          <p:nvPr/>
        </p:nvSpPr>
        <p:spPr>
          <a:xfrm>
            <a:off x="502920" y="1261872"/>
            <a:ext cx="2469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Easiest Part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9"/>
          <p:cNvSpPr/>
          <p:nvPr/>
        </p:nvSpPr>
        <p:spPr>
          <a:xfrm>
            <a:off x="548640" y="1691640"/>
            <a:ext cx="2423100" cy="237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A9F"/>
                </a:solidFill>
                <a:latin typeface="Calibri"/>
                <a:ea typeface="Calibri"/>
                <a:cs typeface="Calibri"/>
                <a:sym typeface="Calibri"/>
              </a:rPr>
              <a:t>The final DML estimating equation. Once nuisance functions are estimated on separate folds, the residualized outcome and treatment combine mechanically in the PLR orthogonal score.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9"/>
          <p:cNvSpPr/>
          <p:nvPr/>
        </p:nvSpPr>
        <p:spPr>
          <a:xfrm>
            <a:off x="3246120" y="1261872"/>
            <a:ext cx="2651700" cy="2926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9"/>
          <p:cNvSpPr/>
          <p:nvPr/>
        </p:nvSpPr>
        <p:spPr>
          <a:xfrm>
            <a:off x="3246120" y="1261872"/>
            <a:ext cx="2651700" cy="3657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9"/>
          <p:cNvSpPr/>
          <p:nvPr/>
        </p:nvSpPr>
        <p:spPr>
          <a:xfrm>
            <a:off x="3337560" y="1261872"/>
            <a:ext cx="2469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Hardest Part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9"/>
          <p:cNvSpPr/>
          <p:nvPr/>
        </p:nvSpPr>
        <p:spPr>
          <a:xfrm>
            <a:off x="3383280" y="1691640"/>
            <a:ext cx="2423100" cy="237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A9F"/>
                </a:solidFill>
                <a:latin typeface="Calibri"/>
                <a:ea typeface="Calibri"/>
                <a:cs typeface="Calibri"/>
                <a:sym typeface="Calibri"/>
              </a:rPr>
              <a:t>Matching the nuisance-function construction. Using only raw covariates for Lasso looks reasonable from the paper, but misses the richer polynomial and interaction feature matrix in the original code.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9"/>
          <p:cNvSpPr/>
          <p:nvPr/>
        </p:nvSpPr>
        <p:spPr>
          <a:xfrm>
            <a:off x="6080760" y="1261872"/>
            <a:ext cx="2651700" cy="2926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9"/>
          <p:cNvSpPr/>
          <p:nvPr/>
        </p:nvSpPr>
        <p:spPr>
          <a:xfrm>
            <a:off x="6080760" y="1261872"/>
            <a:ext cx="2651700" cy="3657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9"/>
          <p:cNvSpPr/>
          <p:nvPr/>
        </p:nvSpPr>
        <p:spPr>
          <a:xfrm>
            <a:off x="6172200" y="1261872"/>
            <a:ext cx="2469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Broader Lesson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9"/>
          <p:cNvSpPr/>
          <p:nvPr/>
        </p:nvSpPr>
        <p:spPr>
          <a:xfrm>
            <a:off x="6217920" y="1691640"/>
            <a:ext cx="2423100" cy="237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A9F"/>
                </a:solidFill>
                <a:latin typeface="Calibri"/>
                <a:ea typeface="Calibri"/>
                <a:cs typeface="Calibri"/>
                <a:sym typeface="Calibri"/>
              </a:rPr>
              <a:t>Small implementation choices — feature construction, sample splitting, random seeds, repeated cross-fitting — can matter for whether a table matches exactly. Reproducibility requires not just the data and the estimator, but a precise account of how every learner-specific input was built.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"/>
          <p:cNvSpPr txBox="1"/>
          <p:nvPr/>
        </p:nvSpPr>
        <p:spPr>
          <a:xfrm>
            <a:off x="2080350" y="2279250"/>
            <a:ext cx="4983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Table 3 Replication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1"/>
          <p:cNvSpPr/>
          <p:nvPr/>
        </p:nvSpPr>
        <p:spPr>
          <a:xfrm>
            <a:off x="411480" y="164592"/>
            <a:ext cx="1554600" cy="292500"/>
          </a:xfrm>
          <a:prstGeom prst="rect">
            <a:avLst/>
          </a:prstGeom>
          <a:solidFill>
            <a:srgbClr val="3A86FF"/>
          </a:solidFill>
          <a:ln cap="flat" cmpd="sng" w="12700">
            <a:solidFill>
              <a:srgbClr val="3A8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1"/>
          <p:cNvSpPr/>
          <p:nvPr/>
        </p:nvSpPr>
        <p:spPr>
          <a:xfrm>
            <a:off x="411480" y="164592"/>
            <a:ext cx="1554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1" name="Google Shape;141;p11"/>
          <p:cNvGraphicFramePr/>
          <p:nvPr/>
        </p:nvGraphicFramePr>
        <p:xfrm>
          <a:off x="411492" y="1364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{22304973-3290-4B56-9957-5FE026BE493E}</a:tableStyleId>
              </a:tblPr>
              <a:tblGrid>
                <a:gridCol w="2011675"/>
                <a:gridCol w="1828800"/>
                <a:gridCol w="4480550"/>
              </a:tblGrid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Variable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Role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61"/>
                          </a:solidFill>
                        </a:rPr>
                        <a:t>net_tfa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61"/>
                          </a:solidFill>
                        </a:rPr>
                        <a:t>Outcome (Y)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61"/>
                          </a:solidFill>
                        </a:rPr>
                        <a:t>Household net total financial assets (USD)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>
                          <a:solidFill>
                            <a:srgbClr val="1E2761"/>
                          </a:solidFill>
                        </a:rPr>
                        <a:t>p</a:t>
                      </a:r>
                      <a:r>
                        <a:rPr lang="en-US" sz="1100" u="none" cap="none" strike="noStrike">
                          <a:solidFill>
                            <a:srgbClr val="1E2761"/>
                          </a:solidFill>
                        </a:rPr>
                        <a:t>401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61"/>
                          </a:solidFill>
                        </a:rPr>
                        <a:t>Treatment (D)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61"/>
                          </a:solidFill>
                        </a:rPr>
                        <a:t>= 1 if employer offers a 401(k) plan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E2761"/>
                          </a:solidFill>
                        </a:rPr>
                        <a:t>e401</a:t>
                      </a:r>
                      <a:endParaRPr sz="1100" u="none" cap="none" strike="noStrike">
                        <a:solidFill>
                          <a:srgbClr val="1E276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E2761"/>
                          </a:solidFill>
                        </a:rPr>
                        <a:t>Instrument (Z)</a:t>
                      </a:r>
                      <a:endParaRPr sz="1100" u="none" cap="none" strike="noStrike">
                        <a:solidFill>
                          <a:srgbClr val="1E276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E2761"/>
                          </a:solidFill>
                        </a:rPr>
                        <a:t>= 1 if the employer offers a 401(k) plan (eligibility)</a:t>
                      </a:r>
                      <a:endParaRPr sz="1100" u="none" cap="none" strike="noStrike">
                        <a:solidFill>
                          <a:srgbClr val="1E276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61"/>
                          </a:solidFill>
                        </a:rPr>
                        <a:t>age, inc, educ, fsize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61"/>
                          </a:solidFill>
                        </a:rPr>
                        <a:t>Controls (X)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61"/>
                          </a:solidFill>
                        </a:rPr>
                        <a:t>Continuous demographic and income variables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61"/>
                          </a:solidFill>
                        </a:rPr>
                        <a:t>marr, twoearn, db, pira, hown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61"/>
                          </a:solidFill>
                        </a:rPr>
                        <a:t>Controls (X)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761"/>
                          </a:solidFill>
                        </a:rPr>
                        <a:t>Binary household characteristics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2"/>
          <p:cNvSpPr/>
          <p:nvPr/>
        </p:nvSpPr>
        <p:spPr>
          <a:xfrm>
            <a:off x="411480" y="164592"/>
            <a:ext cx="1554600" cy="292500"/>
          </a:xfrm>
          <a:prstGeom prst="rect">
            <a:avLst/>
          </a:prstGeom>
          <a:solidFill>
            <a:srgbClr val="3A86FF"/>
          </a:solidFill>
          <a:ln cap="flat" cmpd="sng" w="12700">
            <a:solidFill>
              <a:srgbClr val="3A8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2"/>
          <p:cNvSpPr/>
          <p:nvPr/>
        </p:nvSpPr>
        <p:spPr>
          <a:xfrm>
            <a:off x="411480" y="164592"/>
            <a:ext cx="1554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2"/>
          <p:cNvSpPr/>
          <p:nvPr/>
        </p:nvSpPr>
        <p:spPr>
          <a:xfrm>
            <a:off x="411480" y="530352"/>
            <a:ext cx="83211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Replication Results — Table </a:t>
            </a:r>
            <a:r>
              <a:rPr b="1" lang="en-US" sz="26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3 </a:t>
            </a:r>
            <a:r>
              <a:rPr b="1" i="0" lang="en-US" sz="2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(5-Fold)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0" name="Google Shape;150;p12"/>
          <p:cNvGraphicFramePr/>
          <p:nvPr/>
        </p:nvGraphicFramePr>
        <p:xfrm>
          <a:off x="411480" y="126187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{22304973-3290-4B56-9957-5FE026BE493E}</a:tableStyleId>
              </a:tblPr>
              <a:tblGrid>
                <a:gridCol w="1371600"/>
                <a:gridCol w="987550"/>
                <a:gridCol w="987550"/>
                <a:gridCol w="987550"/>
                <a:gridCol w="987550"/>
                <a:gridCol w="987550"/>
                <a:gridCol w="987550"/>
                <a:gridCol w="987550"/>
              </a:tblGrid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Lasso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Reg. Tree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Forest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Boosting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Neural Net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Ensemble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Best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E2761"/>
                          </a:solidFill>
                        </a:rPr>
                        <a:t>Paper LATE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>
                          <a:solidFill>
                            <a:srgbClr val="1E2761"/>
                          </a:solidFill>
                        </a:rPr>
                        <a:t>8944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>
                          <a:solidFill>
                            <a:srgbClr val="1E2761"/>
                          </a:solidFill>
                        </a:rPr>
                        <a:t>11459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>
                          <a:solidFill>
                            <a:srgbClr val="1E2761"/>
                          </a:solidFill>
                        </a:rPr>
                        <a:t>11764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>
                          <a:solidFill>
                            <a:srgbClr val="1E2761"/>
                          </a:solidFill>
                        </a:rPr>
                        <a:t>11133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>
                          <a:solidFill>
                            <a:srgbClr val="1E2761"/>
                          </a:solidFill>
                        </a:rPr>
                        <a:t>11186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>
                          <a:solidFill>
                            <a:srgbClr val="1E2761"/>
                          </a:solidFill>
                        </a:rPr>
                        <a:t>11173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>
                          <a:solidFill>
                            <a:srgbClr val="1E2761"/>
                          </a:solidFill>
                        </a:rPr>
                        <a:t>11113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8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E2761"/>
                          </a:solidFill>
                        </a:rPr>
                        <a:t>Replication LATE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>
                          <a:solidFill>
                            <a:srgbClr val="1E2761"/>
                          </a:solidFill>
                        </a:rPr>
                        <a:t>11514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>
                          <a:solidFill>
                            <a:srgbClr val="1E2761"/>
                          </a:solidFill>
                        </a:rPr>
                        <a:t>10862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>
                          <a:solidFill>
                            <a:srgbClr val="1E2761"/>
                          </a:solidFill>
                        </a:rPr>
                        <a:t>11459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>
                          <a:solidFill>
                            <a:srgbClr val="1E2761"/>
                          </a:solidFill>
                        </a:rPr>
                        <a:t>11523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>
                          <a:solidFill>
                            <a:srgbClr val="1E2761"/>
                          </a:solidFill>
                        </a:rPr>
                        <a:t>9595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>
                          <a:solidFill>
                            <a:srgbClr val="1E2761"/>
                          </a:solidFill>
                        </a:rPr>
                        <a:t>11386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>
                          <a:solidFill>
                            <a:srgbClr val="1E2761"/>
                          </a:solidFill>
                        </a:rPr>
                        <a:t>11514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151" name="Google Shape;151;p12"/>
          <p:cNvSpPr/>
          <p:nvPr/>
        </p:nvSpPr>
        <p:spPr>
          <a:xfrm>
            <a:off x="411480" y="2788920"/>
            <a:ext cx="2651700" cy="1691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2"/>
          <p:cNvSpPr/>
          <p:nvPr/>
        </p:nvSpPr>
        <p:spPr>
          <a:xfrm>
            <a:off x="411480" y="2788920"/>
            <a:ext cx="63900" cy="1691700"/>
          </a:xfrm>
          <a:prstGeom prst="rect">
            <a:avLst/>
          </a:prstGeom>
          <a:solidFill>
            <a:srgbClr val="3A86FF"/>
          </a:solidFill>
          <a:ln cap="flat" cmpd="sng" w="12700">
            <a:solidFill>
              <a:srgbClr val="3A8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2"/>
          <p:cNvSpPr/>
          <p:nvPr/>
        </p:nvSpPr>
        <p:spPr>
          <a:xfrm>
            <a:off x="566928" y="2880360"/>
            <a:ext cx="23775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~$</a:t>
            </a:r>
            <a:r>
              <a:rPr b="1" lang="en-US" sz="12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,000 Effect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2"/>
          <p:cNvSpPr/>
          <p:nvPr/>
        </p:nvSpPr>
        <p:spPr>
          <a:xfrm>
            <a:off x="566928" y="3246120"/>
            <a:ext cx="2377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A9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B7A9F"/>
                </a:solidFill>
                <a:latin typeface="Calibri"/>
                <a:ea typeface="Calibri"/>
                <a:cs typeface="Calibri"/>
                <a:sym typeface="Calibri"/>
              </a:rPr>
              <a:t>401(k) participation increases net financial assets by about $11,000 for households whose participation is affected by eligibility.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2"/>
          <p:cNvSpPr/>
          <p:nvPr/>
        </p:nvSpPr>
        <p:spPr>
          <a:xfrm>
            <a:off x="3246120" y="2788920"/>
            <a:ext cx="2651700" cy="1691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2"/>
          <p:cNvSpPr/>
          <p:nvPr/>
        </p:nvSpPr>
        <p:spPr>
          <a:xfrm>
            <a:off x="3246120" y="2788920"/>
            <a:ext cx="63900" cy="1691700"/>
          </a:xfrm>
          <a:prstGeom prst="rect">
            <a:avLst/>
          </a:prstGeom>
          <a:solidFill>
            <a:srgbClr val="3A86FF"/>
          </a:solidFill>
          <a:ln cap="flat" cmpd="sng" w="12700">
            <a:solidFill>
              <a:srgbClr val="3A8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2"/>
          <p:cNvSpPr/>
          <p:nvPr/>
        </p:nvSpPr>
        <p:spPr>
          <a:xfrm>
            <a:off x="3401568" y="2880360"/>
            <a:ext cx="23775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Economically Large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2"/>
          <p:cNvSpPr/>
          <p:nvPr/>
        </p:nvSpPr>
        <p:spPr>
          <a:xfrm>
            <a:off x="3401568" y="3246120"/>
            <a:ext cx="2377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B7A9F"/>
                </a:solidFill>
                <a:latin typeface="Calibri"/>
                <a:ea typeface="Calibri"/>
                <a:cs typeface="Calibri"/>
                <a:sym typeface="Calibri"/>
              </a:rPr>
              <a:t>The effect is large relative to average financial assets (~$18,000), implying a roughly 60% increase in household wealth for affected households.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2"/>
          <p:cNvSpPr/>
          <p:nvPr/>
        </p:nvSpPr>
        <p:spPr>
          <a:xfrm>
            <a:off x="6080760" y="2788920"/>
            <a:ext cx="2651700" cy="1691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2"/>
          <p:cNvSpPr/>
          <p:nvPr/>
        </p:nvSpPr>
        <p:spPr>
          <a:xfrm>
            <a:off x="6080760" y="2788920"/>
            <a:ext cx="63900" cy="1691700"/>
          </a:xfrm>
          <a:prstGeom prst="rect">
            <a:avLst/>
          </a:prstGeom>
          <a:solidFill>
            <a:srgbClr val="3A86FF"/>
          </a:solidFill>
          <a:ln cap="flat" cmpd="sng" w="12700">
            <a:solidFill>
              <a:srgbClr val="3A8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2"/>
          <p:cNvSpPr/>
          <p:nvPr/>
        </p:nvSpPr>
        <p:spPr>
          <a:xfrm>
            <a:off x="6236208" y="2880360"/>
            <a:ext cx="23775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Robust Across Methods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2"/>
          <p:cNvSpPr/>
          <p:nvPr/>
        </p:nvSpPr>
        <p:spPr>
          <a:xfrm>
            <a:off x="6236208" y="3246120"/>
            <a:ext cx="2377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B7A9F"/>
                </a:solidFill>
                <a:latin typeface="Calibri"/>
                <a:ea typeface="Calibri"/>
                <a:cs typeface="Calibri"/>
                <a:sym typeface="Calibri"/>
              </a:rPr>
              <a:t>All learners produce positive estimates between $9.6k and $11.5k, supporting the same conclusion. The economic outcome  does not depend on which ML method is used to control for covariates.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3"/>
          <p:cNvSpPr/>
          <p:nvPr/>
        </p:nvSpPr>
        <p:spPr>
          <a:xfrm>
            <a:off x="411480" y="164592"/>
            <a:ext cx="1554600" cy="292500"/>
          </a:xfrm>
          <a:prstGeom prst="rect">
            <a:avLst/>
          </a:prstGeom>
          <a:solidFill>
            <a:srgbClr val="3A86FF"/>
          </a:solidFill>
          <a:ln cap="flat" cmpd="sng" w="12700">
            <a:solidFill>
              <a:srgbClr val="3A8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3"/>
          <p:cNvSpPr/>
          <p:nvPr/>
        </p:nvSpPr>
        <p:spPr>
          <a:xfrm>
            <a:off x="411480" y="164592"/>
            <a:ext cx="1554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I LEARNED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3"/>
          <p:cNvSpPr/>
          <p:nvPr/>
        </p:nvSpPr>
        <p:spPr>
          <a:xfrm>
            <a:off x="411480" y="530352"/>
            <a:ext cx="83211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What I Learned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3"/>
          <p:cNvSpPr/>
          <p:nvPr/>
        </p:nvSpPr>
        <p:spPr>
          <a:xfrm>
            <a:off x="411480" y="1261872"/>
            <a:ext cx="2651700" cy="2926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3"/>
          <p:cNvSpPr/>
          <p:nvPr/>
        </p:nvSpPr>
        <p:spPr>
          <a:xfrm>
            <a:off x="411480" y="1261872"/>
            <a:ext cx="2651700" cy="3657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3"/>
          <p:cNvSpPr/>
          <p:nvPr/>
        </p:nvSpPr>
        <p:spPr>
          <a:xfrm>
            <a:off x="502920" y="1261872"/>
            <a:ext cx="2469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Easiest Part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3"/>
          <p:cNvSpPr/>
          <p:nvPr/>
        </p:nvSpPr>
        <p:spPr>
          <a:xfrm>
            <a:off x="548640" y="1691640"/>
            <a:ext cx="2423100" cy="237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B7A9F"/>
                </a:solidFill>
                <a:latin typeface="Calibri"/>
                <a:ea typeface="Calibri"/>
                <a:cs typeface="Calibri"/>
                <a:sym typeface="Calibri"/>
              </a:rPr>
              <a:t>Interpreting results. Across all learners, the estimated effects remained positive and economically meaningful, making the paper's main conclusion easy to verify.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3"/>
          <p:cNvSpPr/>
          <p:nvPr/>
        </p:nvSpPr>
        <p:spPr>
          <a:xfrm>
            <a:off x="3246120" y="1261872"/>
            <a:ext cx="2651700" cy="2926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3"/>
          <p:cNvSpPr/>
          <p:nvPr/>
        </p:nvSpPr>
        <p:spPr>
          <a:xfrm>
            <a:off x="3246120" y="1261872"/>
            <a:ext cx="2651700" cy="3657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3"/>
          <p:cNvSpPr/>
          <p:nvPr/>
        </p:nvSpPr>
        <p:spPr>
          <a:xfrm>
            <a:off x="3337560" y="1261872"/>
            <a:ext cx="2469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Hardest Part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3"/>
          <p:cNvSpPr/>
          <p:nvPr/>
        </p:nvSpPr>
        <p:spPr>
          <a:xfrm>
            <a:off x="3383280" y="1691640"/>
            <a:ext cx="2423100" cy="237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B7A9F"/>
                </a:solidFill>
                <a:latin typeface="Calibri"/>
                <a:ea typeface="Calibri"/>
                <a:cs typeface="Calibri"/>
                <a:sym typeface="Calibri"/>
              </a:rPr>
              <a:t>Matching the original machine learning specifications. The paper provides the overall methodology, but learner-specific tuning choices and feature construction are not always fully documented.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3"/>
          <p:cNvSpPr/>
          <p:nvPr/>
        </p:nvSpPr>
        <p:spPr>
          <a:xfrm>
            <a:off x="6080760" y="1261872"/>
            <a:ext cx="2651700" cy="2926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3"/>
          <p:cNvSpPr/>
          <p:nvPr/>
        </p:nvSpPr>
        <p:spPr>
          <a:xfrm>
            <a:off x="6080760" y="1261872"/>
            <a:ext cx="2651700" cy="3657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3"/>
          <p:cNvSpPr/>
          <p:nvPr/>
        </p:nvSpPr>
        <p:spPr>
          <a:xfrm>
            <a:off x="6172200" y="1261872"/>
            <a:ext cx="2469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Broader Lesson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3"/>
          <p:cNvSpPr/>
          <p:nvPr/>
        </p:nvSpPr>
        <p:spPr>
          <a:xfrm>
            <a:off x="6217920" y="1691640"/>
            <a:ext cx="2423100" cy="237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6B7A9F"/>
                </a:solidFill>
                <a:latin typeface="Calibri"/>
                <a:ea typeface="Calibri"/>
                <a:cs typeface="Calibri"/>
                <a:sym typeface="Calibri"/>
              </a:rPr>
              <a:t>Machine learning alone does not solve causal inference problems. DML combines flexible prediction tools with econometric techniques such as orthogonalization and cross-fitting to obtain valid causal estimates.</a:t>
            </a:r>
            <a:endParaRPr sz="1100">
              <a:solidFill>
                <a:srgbClr val="6B7A9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4"/>
          <p:cNvSpPr txBox="1"/>
          <p:nvPr/>
        </p:nvSpPr>
        <p:spPr>
          <a:xfrm>
            <a:off x="2080350" y="2279250"/>
            <a:ext cx="4983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